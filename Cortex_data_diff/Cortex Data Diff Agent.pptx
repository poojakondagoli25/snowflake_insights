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C747EF-95B4-4C90-B6D3-896E83CCD58E}">
          <p14:sldIdLst>
            <p14:sldId id="256"/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2" d="100"/>
          <a:sy n="62" d="100"/>
        </p:scale>
        <p:origin x="83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13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21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64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43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052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40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46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26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25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357D98B-F5AA-467A-BA49-D5A7AC946FD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0BFE6AF-2285-4BAD-A676-B5E5FF79BBE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88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lor-coded on electronic circuit board">
            <a:extLst>
              <a:ext uri="{FF2B5EF4-FFF2-40B4-BE49-F238E27FC236}">
                <a16:creationId xmlns:a16="http://schemas.microsoft.com/office/drawing/2014/main" id="{18A0906F-83BD-6A90-D7AE-CF07595385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4971" b="1012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712F90-15D0-C45E-55B0-3EB7EE94D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IN" dirty="0"/>
              <a:t>Cortex Data Diff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BC9CB-C71D-CD96-89DC-EFFA50E19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Automating DEV vs PROD Data Comparison Using Snowflake Cortex</a:t>
            </a:r>
          </a:p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8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D2E5-1A0D-DC95-097B-0407A592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Cortex Data Diff Agent?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B937B-CAFE-6DB9-F8DE-E5E355A23AD8}"/>
              </a:ext>
            </a:extLst>
          </p:cNvPr>
          <p:cNvSpPr txBox="1"/>
          <p:nvPr/>
        </p:nvSpPr>
        <p:spPr>
          <a:xfrm>
            <a:off x="766280" y="1911446"/>
            <a:ext cx="105873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 Snowflake Cortex Agent that automatically compares tables across environments to ensure data consistency.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Uses a custom stored procedure (SP_DATA_DIFF_JSON) to perform row-level comparisons with primary keys.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Outputs a single JSON result, optimized for LLM interpretation and automated summarization.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Removes the need for manual SQL diff checks, speeding up validation and reducing errors.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Strengthens DEV vs PROD data quality assurance by detecting mismatches early in the pipeline.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2622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Flow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88B0C8D-DF45-9E67-216C-1E28137D2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2155023"/>
            <a:ext cx="1068592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requests a table comparison (e.g., “Compare STG_CUSTOMERS between DEV and PROD”).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Cortex Agent triggers the SQL tool, interpreting the user’s intent.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SQL tool executes SP_DATA_DIFF_JSON, passing table and key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procedure internally runs SP_DATA_DIFF, performs row-level diffing, and returns a single JSON payload.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Cortex LLM analyzes and summarizes the JSON, delivering human-readable insights back to the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Stored Procedure (SP_DATA_DIFF_JSON)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6417F7-6C03-FAED-D7A1-B49F29A17A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382" y="2073653"/>
            <a:ext cx="1067696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in JavaScript to support looping and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resultset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Invokes SP_DATA_DIFF to perform the actual row-level comparison across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Iterates through each row of the returned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resultset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capture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Constructs a JSON array containing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pk_value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diff_type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dev_row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prod_row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every mismatched record.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Outputs a single VARIANT cell, which is Cortex-compatible and easy for the LLM to interpret.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Tool Definition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FDCD7D-D9CF-A32A-D5D8-EF8983991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970357"/>
            <a:ext cx="10972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Type: SQL, allowing the agent to run Snowflake procedures directly inside Cortex.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Executes SP_DATA_DIFF_JSON, which performs the comparison and formats the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Accepts flexible parameters for database, schema, table name, and primary key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a single-row, single-column JSON result, meeting Cortex tool output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interactive, real-time table comparisons through natural language prompts in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JSON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[</a:t>
            </a:r>
          </a:p>
          <a:p>
            <a:pPr marL="0" indent="0">
              <a:buNone/>
            </a:pPr>
            <a:r>
              <a:rPr dirty="0"/>
              <a:t>  {</a:t>
            </a:r>
          </a:p>
          <a:p>
            <a:pPr marL="0" indent="0">
              <a:buNone/>
            </a:pPr>
            <a:r>
              <a:rPr dirty="0"/>
              <a:t>    '</a:t>
            </a:r>
            <a:r>
              <a:rPr dirty="0" err="1"/>
              <a:t>pk_value</a:t>
            </a:r>
            <a:r>
              <a:rPr dirty="0"/>
              <a:t>': 101,</a:t>
            </a:r>
          </a:p>
          <a:p>
            <a:pPr marL="0" indent="0">
              <a:buNone/>
            </a:pPr>
            <a:r>
              <a:rPr dirty="0"/>
              <a:t>    '</a:t>
            </a:r>
            <a:r>
              <a:rPr dirty="0" err="1"/>
              <a:t>diff_type</a:t>
            </a:r>
            <a:r>
              <a:rPr dirty="0"/>
              <a:t>': 'ROW_DIFFERENT',</a:t>
            </a:r>
          </a:p>
          <a:p>
            <a:pPr marL="0" indent="0">
              <a:buNone/>
            </a:pPr>
            <a:r>
              <a:rPr dirty="0"/>
              <a:t>    '</a:t>
            </a:r>
            <a:r>
              <a:rPr dirty="0" err="1"/>
              <a:t>dev_row</a:t>
            </a:r>
            <a:r>
              <a:rPr dirty="0"/>
              <a:t>': {...},</a:t>
            </a:r>
          </a:p>
          <a:p>
            <a:pPr marL="0" indent="0">
              <a:buNone/>
            </a:pPr>
            <a:r>
              <a:rPr dirty="0"/>
              <a:t>    '</a:t>
            </a:r>
            <a:r>
              <a:rPr dirty="0" err="1"/>
              <a:t>prod_row</a:t>
            </a:r>
            <a:r>
              <a:rPr dirty="0"/>
              <a:t>': {...}</a:t>
            </a:r>
          </a:p>
          <a:p>
            <a:pPr marL="0" indent="0">
              <a:buNone/>
            </a:pPr>
            <a:r>
              <a:rPr dirty="0"/>
              <a:t>  }</a:t>
            </a:r>
          </a:p>
          <a:p>
            <a:pPr marL="0" indent="0">
              <a:buNone/>
            </a:pP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Cortex Data Diff Agent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379C6A-AA0C-2F87-0095-0BC62FE2F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155024"/>
            <a:ext cx="1078902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Automates data validation, removing the need for repeated manual checks across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DEV and PROD consistency by detecting row-level mismatches 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Eliminates manual SQL diff debugging, reducing time spent writing comparison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instant LLM-powered summaries, making differences easy to understand.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Reduces operational risk, catching discrepancies early before they propagate into production systems or impact business decisions.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CFC1-14EE-1172-08DC-405B6337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Cortex Data Diff vs Data Diff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875960-3F6E-8EF9-5DA5-492BE32B7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137244"/>
              </p:ext>
            </p:extLst>
          </p:nvPr>
        </p:nvGraphicFramePr>
        <p:xfrm>
          <a:off x="631860" y="1846263"/>
          <a:ext cx="10577244" cy="4379872"/>
        </p:xfrm>
        <a:graphic>
          <a:graphicData uri="http://schemas.openxmlformats.org/drawingml/2006/table">
            <a:tbl>
              <a:tblPr/>
              <a:tblGrid>
                <a:gridCol w="3525748">
                  <a:extLst>
                    <a:ext uri="{9D8B030D-6E8A-4147-A177-3AD203B41FA5}">
                      <a16:colId xmlns:a16="http://schemas.microsoft.com/office/drawing/2014/main" val="2946837046"/>
                    </a:ext>
                  </a:extLst>
                </a:gridCol>
                <a:gridCol w="3525748">
                  <a:extLst>
                    <a:ext uri="{9D8B030D-6E8A-4147-A177-3AD203B41FA5}">
                      <a16:colId xmlns:a16="http://schemas.microsoft.com/office/drawing/2014/main" val="3826452416"/>
                    </a:ext>
                  </a:extLst>
                </a:gridCol>
                <a:gridCol w="3525748">
                  <a:extLst>
                    <a:ext uri="{9D8B030D-6E8A-4147-A177-3AD203B41FA5}">
                      <a16:colId xmlns:a16="http://schemas.microsoft.com/office/drawing/2014/main" val="4144480958"/>
                    </a:ext>
                  </a:extLst>
                </a:gridCol>
              </a:tblGrid>
              <a:tr h="2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Aspect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 Diff (dbt / Datafold)</a:t>
                      </a:r>
                      <a:endParaRPr lang="en-IN" sz="140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Cortex Data Diff Agent</a:t>
                      </a:r>
                      <a:endParaRPr lang="en-IN" sz="140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817296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Primary Design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Purpose-built for large-scale, high-speed data comparison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Chat-driven diffing powered by a Snowflake LLM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74839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Workflow Integration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Integrates deeply with CI/CD and dbt workflows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Simple natural-language interaction in chat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442769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Level of Detail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Detailed row-level + cell-level differences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Row-level JSON output with LLM-generated explanation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83985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Use Case Fit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Ideal for automated testing, migrations, continuous validation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Best for exploratory debugging and quick QA checks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097543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Setup Requirements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Requires setup: configs, credentials, and pipelines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Minimal setup: tool + stored procedure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38763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Ease of Use</a:t>
                      </a:r>
                      <a:endParaRPr lang="en-IN" sz="140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More technical; suited for engineers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Very user-friendly; suitable for analysts as well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513705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Automation Strength</a:t>
                      </a:r>
                      <a:endParaRPr lang="en-IN" sz="140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Strong automation for CI/CD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Strong for ad-hoc insights and human explanation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399912"/>
                  </a:ext>
                </a:extLst>
              </a:tr>
              <a:tr h="51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Output Format</a:t>
                      </a:r>
                      <a:endParaRPr lang="en-IN" sz="1400" dirty="0"/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Diff results, stats, and detailed comparisons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Single JSON + human-readable summary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489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93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B2E1-6D0A-4A4F-F072-56A2B43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A7F508-FA37-7636-DD16-AA1B2829743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398787"/>
              </p:ext>
            </p:extLst>
          </p:nvPr>
        </p:nvGraphicFramePr>
        <p:xfrm>
          <a:off x="819877" y="2001232"/>
          <a:ext cx="3791427" cy="202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68497" imgH="517676" progId="Package">
                  <p:embed/>
                </p:oleObj>
              </mc:Choice>
              <mc:Fallback>
                <p:oleObj name="Packager Shell Object" showAsIcon="1" r:id="rId2" imgW="968497" imgH="51767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9877" y="2001232"/>
                        <a:ext cx="3791427" cy="202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0511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624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Package</vt:lpstr>
      <vt:lpstr>Cortex Data Diff Agent</vt:lpstr>
      <vt:lpstr>What is the Cortex Data Diff Agent?</vt:lpstr>
      <vt:lpstr>Architecture Flow</vt:lpstr>
      <vt:lpstr>Stored Procedure (SP_DATA_DIFF_JSON)</vt:lpstr>
      <vt:lpstr>Agent Tool Definition</vt:lpstr>
      <vt:lpstr>Example JSON Output</vt:lpstr>
      <vt:lpstr>Benefits of Cortex Data Diff Agent</vt:lpstr>
      <vt:lpstr>Cortex Data Diff vs Data Diff</vt:lpstr>
      <vt:lpstr>Stored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Kondagoli, Pooja</dc:creator>
  <cp:lastModifiedBy>Kondagoli, Pooja</cp:lastModifiedBy>
  <cp:revision>5</cp:revision>
  <dcterms:created xsi:type="dcterms:W3CDTF">2025-11-20T15:56:37Z</dcterms:created>
  <dcterms:modified xsi:type="dcterms:W3CDTF">2025-11-20T16:38:55Z</dcterms:modified>
</cp:coreProperties>
</file>